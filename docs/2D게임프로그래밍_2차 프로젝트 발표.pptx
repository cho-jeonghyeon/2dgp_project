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1F423C0B-24CF-4C3C-8A59-7768EA0501B5}" styleName="Normal Style 1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3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presProps" Target="presProps.xml"  /><Relationship Id="rId7" Type="http://schemas.openxmlformats.org/officeDocument/2006/relationships/viewProps" Target="viewProps.xml"  /><Relationship Id="rId8" Type="http://schemas.openxmlformats.org/officeDocument/2006/relationships/theme" Target="theme/theme1.xml"  /><Relationship Id="rId9" Type="http://schemas.openxmlformats.org/officeDocument/2006/relationships/tableStyles" Target="tableStyle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1" y="-222485"/>
            <a:ext cx="12192000" cy="8143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200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advTm="4172" mc:Ignorable="p14" p14:dur="50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"/>
          <p:cNvCxnSpPr/>
          <p:nvPr/>
        </p:nvCxnSpPr>
        <p:spPr>
          <a:xfrm>
            <a:off x="9020968" y="1943616"/>
            <a:ext cx="500062" cy="0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"/>
          <p:cNvSpPr txBox="1"/>
          <p:nvPr/>
        </p:nvSpPr>
        <p:spPr>
          <a:xfrm>
            <a:off x="9521030" y="1761807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en-US" altLang="ko-KR"/>
              <a:t>100%</a:t>
            </a:r>
            <a:endParaRPr lang="en-US" altLang="ko-KR"/>
          </a:p>
        </p:txBody>
      </p:sp>
      <p:cxnSp>
        <p:nvCxnSpPr>
          <p:cNvPr id="9" name=""/>
          <p:cNvCxnSpPr/>
          <p:nvPr/>
        </p:nvCxnSpPr>
        <p:spPr>
          <a:xfrm>
            <a:off x="9020970" y="2310448"/>
            <a:ext cx="500062" cy="0"/>
          </a:xfrm>
          <a:prstGeom prst="straightConnector1">
            <a:avLst/>
          </a:prstGeom>
          <a:noFill/>
          <a:ln w="12700" cap="flat" cmpd="sng" algn="ctr">
            <a:solidFill>
              <a:srgbClr val="000000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10" name=""/>
          <p:cNvSpPr txBox="1"/>
          <p:nvPr/>
        </p:nvSpPr>
        <p:spPr>
          <a:xfrm>
            <a:off x="9521032" y="2128639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100%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1" name=""/>
          <p:cNvCxnSpPr/>
          <p:nvPr/>
        </p:nvCxnSpPr>
        <p:spPr>
          <a:xfrm>
            <a:off x="9020970" y="2677280"/>
            <a:ext cx="500062" cy="0"/>
          </a:xfrm>
          <a:prstGeom prst="straightConnector1">
            <a:avLst/>
          </a:prstGeom>
          <a:noFill/>
          <a:ln w="12700" cap="flat" cmpd="sng" algn="ctr">
            <a:solidFill>
              <a:srgbClr val="000000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12" name=""/>
          <p:cNvSpPr txBox="1"/>
          <p:nvPr/>
        </p:nvSpPr>
        <p:spPr>
          <a:xfrm>
            <a:off x="9521032" y="2495471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30%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3" name=""/>
          <p:cNvCxnSpPr/>
          <p:nvPr/>
        </p:nvCxnSpPr>
        <p:spPr>
          <a:xfrm>
            <a:off x="9020970" y="3098046"/>
            <a:ext cx="500062" cy="0"/>
          </a:xfrm>
          <a:prstGeom prst="straightConnector1">
            <a:avLst/>
          </a:prstGeom>
          <a:noFill/>
          <a:ln w="12700" cap="flat" cmpd="sng" algn="ctr">
            <a:solidFill>
              <a:srgbClr val="000000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14" name=""/>
          <p:cNvSpPr txBox="1"/>
          <p:nvPr/>
        </p:nvSpPr>
        <p:spPr>
          <a:xfrm>
            <a:off x="9521032" y="2916237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0%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5" name=""/>
          <p:cNvGraphicFramePr>
            <a:graphicFrameLocks noGrp="1"/>
          </p:cNvGraphicFramePr>
          <p:nvPr/>
        </p:nvGraphicFramePr>
        <p:xfrm>
          <a:off x="892969" y="1761807"/>
          <a:ext cx="8128000" cy="3334385"/>
        </p:xfrm>
        <a:graphic>
          <a:graphicData uri="http://schemas.openxmlformats.org/drawingml/2006/table">
            <a:tbl>
              <a:tblPr firstRow="1" bandRow="1">
                <a:tableStyle styleId="{1F423C0B-24CF-4C3C-8A59-7768EA0501B5}" styleName="Normal Style 1 - Accent 3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3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3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3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3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3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3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3"/>
                        </a:solidFill>
                      </a:fill>
                    </a:tcStyle>
                  </a:firstRow>
                </a:tableStyle>
              </a:tblPr>
              <a:tblGrid>
                <a:gridCol w="980281"/>
                <a:gridCol w="7147718"/>
              </a:tblGrid>
              <a:tr h="116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0">
                          <a:solidFill>
                            <a:schemeClr val="tx1"/>
                          </a:solidFill>
                        </a:rPr>
                        <a:t>1주차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0">
                          <a:solidFill>
                            <a:schemeClr val="tx1"/>
                          </a:solidFill>
                        </a:rPr>
                        <a:t>환경 세팅, 기본 캐릭터/행성 리소스 불러오기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2</a:t>
                      </a:r>
                      <a:r>
                        <a:rPr lang="ko-KR" altLang="en-US"/>
                        <a:t>주차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플레이어 이동, 드릴 공격 구현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3</a:t>
                      </a:r>
                      <a:r>
                        <a:rPr lang="ko-KR" altLang="en-US"/>
                        <a:t>주차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행성 구조(지각-맨틀-외핵-내핵) + 충돌 판정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4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광물 채력/가시 데미지 시스템 + 우주선 체력/방어력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5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자원 획득 → 업그레이드 UI 구현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6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무기 시스템(원거리 공격) 추가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7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경험치/레벨업 + 로그라이크 선택 시스템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8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사운드/이펙트/스테이지 확장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9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/>
                        <a:t>밸런싱, 버그 수정, 발표 자료 준비</a:t>
                      </a: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0224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advTm="18469" mc:Ignorable="p14" p14:dur="50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"/>
          <p:cNvCxnSpPr/>
          <p:nvPr/>
        </p:nvCxnSpPr>
        <p:spPr>
          <a:xfrm>
            <a:off x="9020968" y="1943616"/>
            <a:ext cx="500062" cy="0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"/>
          <p:cNvSpPr txBox="1"/>
          <p:nvPr/>
        </p:nvSpPr>
        <p:spPr>
          <a:xfrm>
            <a:off x="9521030" y="1761807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en-US" altLang="ko-KR"/>
              <a:t>100%</a:t>
            </a:r>
            <a:endParaRPr lang="en-US" altLang="ko-KR"/>
          </a:p>
        </p:txBody>
      </p:sp>
      <p:cxnSp>
        <p:nvCxnSpPr>
          <p:cNvPr id="9" name=""/>
          <p:cNvCxnSpPr/>
          <p:nvPr/>
        </p:nvCxnSpPr>
        <p:spPr>
          <a:xfrm>
            <a:off x="9020970" y="2310448"/>
            <a:ext cx="500062" cy="0"/>
          </a:xfrm>
          <a:prstGeom prst="straightConnector1">
            <a:avLst/>
          </a:prstGeom>
          <a:noFill/>
          <a:ln w="12700" cap="flat" cmpd="sng" algn="ctr">
            <a:solidFill>
              <a:srgbClr val="000000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10" name=""/>
          <p:cNvSpPr txBox="1"/>
          <p:nvPr/>
        </p:nvSpPr>
        <p:spPr>
          <a:xfrm>
            <a:off x="9521032" y="2128639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100%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1" name=""/>
          <p:cNvCxnSpPr/>
          <p:nvPr/>
        </p:nvCxnSpPr>
        <p:spPr>
          <a:xfrm>
            <a:off x="9020970" y="2677280"/>
            <a:ext cx="500062" cy="0"/>
          </a:xfrm>
          <a:prstGeom prst="straightConnector1">
            <a:avLst/>
          </a:prstGeom>
          <a:noFill/>
          <a:ln w="12700" cap="flat" cmpd="sng" algn="ctr">
            <a:solidFill>
              <a:srgbClr val="000000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12" name=""/>
          <p:cNvSpPr txBox="1"/>
          <p:nvPr/>
        </p:nvSpPr>
        <p:spPr>
          <a:xfrm>
            <a:off x="9521032" y="2495471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100%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3" name=""/>
          <p:cNvCxnSpPr/>
          <p:nvPr/>
        </p:nvCxnSpPr>
        <p:spPr>
          <a:xfrm>
            <a:off x="9020970" y="3098046"/>
            <a:ext cx="500062" cy="0"/>
          </a:xfrm>
          <a:prstGeom prst="straightConnector1">
            <a:avLst/>
          </a:prstGeom>
          <a:noFill/>
          <a:ln w="12700" cap="flat" cmpd="sng" algn="ctr">
            <a:solidFill>
              <a:srgbClr val="000000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14" name=""/>
          <p:cNvSpPr txBox="1"/>
          <p:nvPr/>
        </p:nvSpPr>
        <p:spPr>
          <a:xfrm>
            <a:off x="9521032" y="2916237"/>
            <a:ext cx="827483" cy="366832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100%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5" name=""/>
          <p:cNvGraphicFramePr>
            <a:graphicFrameLocks noGrp="1"/>
          </p:cNvGraphicFramePr>
          <p:nvPr/>
        </p:nvGraphicFramePr>
        <p:xfrm>
          <a:off x="892969" y="1761807"/>
          <a:ext cx="8128000" cy="3334385"/>
        </p:xfrm>
        <a:graphic>
          <a:graphicData uri="http://schemas.openxmlformats.org/drawingml/2006/table">
            <a:tbl>
              <a:tblPr firstRow="1" bandRow="1">
                <a:tableStyle styleId="{1F423C0B-24CF-4C3C-8A59-7768EA0501B5}" styleName="Normal Style 1 - Accent 3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3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3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3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3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3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3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3"/>
                        </a:solidFill>
                      </a:fill>
                    </a:tcStyle>
                  </a:firstRow>
                </a:tableStyle>
              </a:tblPr>
              <a:tblGrid>
                <a:gridCol w="980281"/>
                <a:gridCol w="7147718"/>
              </a:tblGrid>
              <a:tr h="116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0">
                          <a:solidFill>
                            <a:schemeClr val="tx1"/>
                          </a:solidFill>
                        </a:rPr>
                        <a:t>1주차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b="0" strike="sngStrike">
                          <a:solidFill>
                            <a:srgbClr val="ff0000"/>
                          </a:solidFill>
                        </a:rPr>
                        <a:t>환경 세팅</a:t>
                      </a:r>
                      <a:r>
                        <a:rPr lang="en-US" altLang="ko-KR" b="0" strike="sngStrike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</a:rPr>
                        <a:t> 기본 캐릭터/행성 리소스 불러오기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2</a:t>
                      </a:r>
                      <a:r>
                        <a:rPr lang="ko-KR" altLang="en-US"/>
                        <a:t>주차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게임 모드 구조 전체 분리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3</a:t>
                      </a:r>
                      <a:r>
                        <a:rPr lang="ko-KR" altLang="en-US"/>
                        <a:t>주차</a:t>
                      </a:r>
                      <a:endParaRPr lang="ko-KR" altLang="en-US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케릭터 이동 및 드릴 회전 구현 </a:t>
                      </a:r>
                      <a:r>
                        <a:rPr lang="ko-KR" altLang="en-US"/>
                        <a:t>+ 충돌 판정</a:t>
                      </a: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4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각 모드별 세부 디테일 보완 및 </a:t>
                      </a:r>
                      <a:r>
                        <a:rPr lang="en-US" altLang="ko-KR">
                          <a:solidFill>
                            <a:srgbClr val="ff0000"/>
                          </a:solidFill>
                        </a:rPr>
                        <a:t>UI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 추가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5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행성 구조(지각-맨틀-외핵-내핵)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6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광물 채력/가시 데미지 시스템 + 우주선 체력/방어력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7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자원 구현</a:t>
                      </a:r>
                      <a:r>
                        <a:rPr lang="en-US" altLang="ko-KR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 경험치/레벨업 + 로그라이크 선택 시스템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8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무기 시스템(원거리 공격) 추가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/>
                        <a:t>9</a:t>
                      </a:r>
                      <a:r>
                        <a:rPr lang="ko-KR" altLang="en-US"/>
                        <a:t>주차</a:t>
                      </a: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밸런싱, 버그 수정</a:t>
                      </a:r>
                      <a:r>
                        <a:rPr lang="en-US" altLang="ko-KR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</a:rPr>
                        <a:t> 사운드</a:t>
                      </a:r>
                      <a:endParaRPr lang="ko-KR" altLang="en-US">
                        <a:solidFill>
                          <a:srgbClr val="ff0000"/>
                        </a:solidFill>
                      </a:endParaRPr>
                    </a:p>
                  </a:txBody>
                  <a:tcPr marL="91440" marR="9144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6423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advTm="25531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4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225537"/>
            <a:ext cx="12192000" cy="6406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308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advTm="4094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8</ep:Words>
  <ep:PresentationFormat>화면 슬라이드 쇼(4:3)</ep:PresentationFormat>
  <ep:Paragraphs>10</ep:Paragraphs>
  <ep:Slides>4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ep:HeadingPairs>
  <ep:TitlesOfParts>
    <vt:vector size="5" baseType="lpstr">
      <vt:lpstr>한컴오피스</vt:lpstr>
      <vt:lpstr>슬라이드 1</vt:lpstr>
      <vt:lpstr>슬라이드 2</vt:lpstr>
      <vt:lpstr>슬라이드 3</vt:lpstr>
      <vt:lpstr>슬라이드 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2025-11-12T13:35:25.355</dcterms:created>
  <dc:creator>user</dc:creator>
  <cp:lastModifiedBy>user</cp:lastModifiedBy>
  <dcterms:modified xsi:type="dcterms:W3CDTF">2025-11-12T14:57:34.935</dcterms:modified>
  <cp:revision>10</cp:revision>
  <cp:version>12.0.0.535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