
<file path=[Content_Types].xml><?xml version="1.0" encoding="utf-8"?>
<Types xmlns="http://schemas.openxmlformats.org/package/2006/content-types">
  <Default Extension="jpeg" ContentType="image/jpeg"/>
  <Default Extension="mp4" ContentType="video/unknown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audio" Target="../media/audio1.wav"  /><Relationship Id="rId4" Type="http://schemas.microsoft.com/office/2007/relationships/media" Target="../media/audio1.wav"  /><Relationship Id="rId5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audio" Target="../media/audio2.wav"  /><Relationship Id="rId5" Type="http://schemas.microsoft.com/office/2007/relationships/media" Target="../media/audio2.wav"  /><Relationship Id="rId6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5.png"  /><Relationship Id="rId4" Type="http://schemas.openxmlformats.org/officeDocument/2006/relationships/video" Target="../media/unknown1.mp4"  /><Relationship Id="rId5" Type="http://schemas.microsoft.com/office/2007/relationships/media" Target="../media/unknown1.mp4"  /><Relationship Id="rId6" Type="http://schemas.openxmlformats.org/officeDocument/2006/relationships/image" Target="../media/image6.png"  /><Relationship Id="rId7" Type="http://schemas.openxmlformats.org/officeDocument/2006/relationships/audio" Target="../media/audio3.wav"  /><Relationship Id="rId8" Type="http://schemas.microsoft.com/office/2007/relationships/media" Target="../media/audio3.wav"  /><Relationship Id="rId9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audio" Target="../media/audio4.wav"  /><Relationship Id="rId11" Type="http://schemas.microsoft.com/office/2007/relationships/media" Target="../media/audio4.wav"  /><Relationship Id="rId12" Type="http://schemas.openxmlformats.org/officeDocument/2006/relationships/image" Target="../media/image2.png"  /><Relationship Id="rId2" Type="http://schemas.openxmlformats.org/officeDocument/2006/relationships/image" Target="../media/image3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Relationship Id="rId9" Type="http://schemas.openxmlformats.org/officeDocument/2006/relationships/image" Target="../media/image1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14.png"  /><Relationship Id="rId4" Type="http://schemas.openxmlformats.org/officeDocument/2006/relationships/audio" Target="../media/audio5.wav"  /><Relationship Id="rId5" Type="http://schemas.microsoft.com/office/2007/relationships/media" Target="../media/audio5.wav"  /><Relationship Id="rId6" Type="http://schemas.openxmlformats.org/officeDocument/2006/relationships/image" Target="../media/image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16200" y="3644900"/>
            <a:ext cx="19164300" cy="2184400"/>
          </a:xfrm>
          <a:prstGeom prst="rect">
            <a:avLst/>
          </a:prstGeom>
        </p:spPr>
        <p:txBody>
          <a:bodyPr anchor="ctr" rtlCol="false" lIns="0" tIns="155783" rIns="0" bIns="155783"/>
          <a:lstStyle/>
          <a:p>
            <a:pPr algn="ctr" lvl="0">
              <a:lnSpc>
                <a:spcPct val="99600"/>
              </a:lnSpc>
            </a:pPr>
            <a:r>
              <a:rPr lang="ko-KR" sz="12266" b="false" i="false" u="none" strike="noStrike">
                <a:solidFill>
                  <a:srgbClr val="FFFFFF"/>
                </a:solidFill>
                <a:ea typeface="Arial"/>
              </a:rPr>
              <a:t>행성</a:t>
            </a:r>
            <a:r>
              <a:rPr lang="en-US" sz="12266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12266" b="false" i="false" u="none" strike="noStrike">
                <a:solidFill>
                  <a:srgbClr val="FFFFFF"/>
                </a:solidFill>
                <a:ea typeface="Arial"/>
              </a:rPr>
              <a:t>파괴자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21700" y="2933700"/>
            <a:ext cx="7327900" cy="7112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9600"/>
              </a:lnSpc>
            </a:pPr>
            <a:r>
              <a:rPr lang="en-US" sz="3999" b="false" i="false" u="none" strike="noStrike">
                <a:solidFill>
                  <a:srgbClr val="F65B20"/>
                </a:solidFill>
                <a:latin typeface="Arial"/>
              </a:rPr>
              <a:t>2d</a:t>
            </a:r>
            <a:r>
              <a:rPr lang="ko-KR" sz="3999" b="false" i="false" u="none" strike="noStrike">
                <a:solidFill>
                  <a:srgbClr val="F65B20"/>
                </a:solidFill>
                <a:ea typeface="Arial"/>
              </a:rPr>
              <a:t>게임</a:t>
            </a:r>
            <a:r>
              <a:rPr lang="en-US" sz="3999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999" b="false" i="false" u="none" strike="noStrike">
                <a:solidFill>
                  <a:srgbClr val="F65B20"/>
                </a:solidFill>
                <a:ea typeface="Arial"/>
              </a:rPr>
              <a:t>프로그래밍</a:t>
            </a:r>
            <a:r>
              <a:rPr lang="en-US" sz="3999" b="false" i="false" u="none" strike="noStrike">
                <a:solidFill>
                  <a:srgbClr val="F65B20"/>
                </a:solidFill>
                <a:latin typeface="Arial"/>
              </a:rPr>
              <a:t> 1</a:t>
            </a:r>
            <a:r>
              <a:rPr lang="ko-KR" sz="3999" b="false" i="false" u="none" strike="noStrike">
                <a:solidFill>
                  <a:srgbClr val="F65B20"/>
                </a:solidFill>
                <a:ea typeface="Arial"/>
              </a:rPr>
              <a:t>차</a:t>
            </a:r>
            <a:r>
              <a:rPr lang="en-US" sz="3999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999" b="false" i="false" u="none" strike="noStrike">
                <a:solidFill>
                  <a:srgbClr val="F65B20"/>
                </a:solidFill>
                <a:ea typeface="Arial"/>
              </a:rPr>
              <a:t>발표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81300" y="6057900"/>
            <a:ext cx="18821400" cy="5715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Arial"/>
              </a:rPr>
              <a:t>2022184038 </a:t>
            </a:r>
            <a:r>
              <a:rPr lang="ko-KR" sz="3199" b="false" i="false" u="none" strike="noStrike">
                <a:solidFill>
                  <a:srgbClr val="FFFFFF"/>
                </a:solidFill>
                <a:ea typeface="Arial"/>
              </a:rPr>
              <a:t>조정현</a:t>
            </a:r>
          </a:p>
        </p:txBody>
      </p:sp>
      <p:pic>
        <p:nvPicPr>
          <p:cNvPr id="9" name="설명">
            <a:hlinkClick r:id="" action="ppaction://media"/>
          </p:cNvPr>
          <p:cNvPicPr>
            <a:picLocks noRot="1"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23721060" y="13053060"/>
            <a:ext cx="5715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10219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944600" y="4038600"/>
            <a:ext cx="9067800" cy="711200"/>
          </a:xfrm>
          <a:prstGeom prst="rect">
            <a:avLst/>
          </a:prstGeom>
        </p:spPr>
        <p:txBody>
          <a:bodyPr lIns="0" tIns="0" rIns="0" bIns="50799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999" b="0" i="0" u="none" strike="noStrike">
                <a:solidFill>
                  <a:srgbClr val="f65b20"/>
                </a:solidFill>
                <a:ea typeface="Arial"/>
              </a:rPr>
              <a:t>핵심 컨셉</a:t>
            </a:r>
            <a:endParaRPr lang="ko-KR" altLang="en-US" sz="3999" b="0" i="0" u="none" strike="noStrike">
              <a:solidFill>
                <a:srgbClr val="f65b20"/>
              </a:solidFill>
              <a:ea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614400" y="4267200"/>
            <a:ext cx="10769600" cy="25908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53550"/>
              </a:lnSpc>
              <a:defRPr/>
            </a:pPr>
            <a:endParaRPr lang="en" altLang="en-US" sz="2900" b="0" i="0" u="none" strike="noStrike">
              <a:solidFill>
                <a:srgbClr val="ffffff"/>
              </a:solidFill>
              <a:latin typeface="Arial"/>
            </a:endParaRPr>
          </a:p>
          <a:p>
            <a:pPr lvl="0" algn="l">
              <a:lnSpc>
                <a:spcPct val="153550"/>
              </a:lnSpc>
              <a:defRPr/>
            </a:pP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드릴과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무기를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장착한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우주선으로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행성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파괴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및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자원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획득</a:t>
            </a:r>
            <a:endParaRPr lang="ko-KR" sz="2933" b="0" i="0" u="none" strike="noStrike">
              <a:solidFill>
                <a:srgbClr val="ffffff"/>
              </a:solidFill>
              <a:ea typeface="Arial"/>
            </a:endParaRPr>
          </a:p>
          <a:p>
            <a:pPr lvl="0" algn="l">
              <a:lnSpc>
                <a:spcPct val="153550"/>
              </a:lnSpc>
              <a:defRPr/>
            </a:pP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자원으로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우주선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업그레이드하여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더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강한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행성에</a:t>
            </a:r>
            <a:r>
              <a:rPr lang="en-US" sz="2933" b="0" i="0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ffffff"/>
                </a:solidFill>
                <a:ea typeface="Arial"/>
              </a:rPr>
              <a:t>도전</a:t>
            </a:r>
            <a:endParaRPr lang="ko-KR" sz="2933" b="0" i="0" u="none" strike="noStrike">
              <a:solidFill>
                <a:srgbClr val="ffffff"/>
              </a:solidFill>
              <a:ea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7200" y="1498600"/>
            <a:ext cx="20916900" cy="1181100"/>
          </a:xfrm>
          <a:prstGeom prst="rect">
            <a:avLst/>
          </a:prstGeom>
        </p:spPr>
        <p:txBody>
          <a:bodyPr lIns="0" tIns="84667" rIns="0" bIns="84667" anchor="ctr"/>
          <a:lstStyle/>
          <a:p>
            <a:pPr lvl="0" algn="ctr">
              <a:lnSpc>
                <a:spcPct val="99600"/>
              </a:lnSpc>
              <a:defRPr/>
            </a:pPr>
            <a:r>
              <a:rPr lang="ko-KR" sz="6666" b="0" i="0" u="none" strike="noStrike">
                <a:solidFill>
                  <a:srgbClr val="f65b20"/>
                </a:solidFill>
                <a:ea typeface="Arial"/>
              </a:rPr>
              <a:t>게임</a:t>
            </a:r>
            <a:r>
              <a:rPr lang="en-US" sz="6666" b="0" i="0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0" i="0" u="none" strike="noStrike">
                <a:solidFill>
                  <a:srgbClr val="f65b20"/>
                </a:solidFill>
                <a:ea typeface="Arial"/>
              </a:rPr>
              <a:t>컨셉</a:t>
            </a:r>
            <a:endParaRPr lang="ko-KR" sz="6666" b="0" i="0" u="none" strike="noStrike">
              <a:solidFill>
                <a:srgbClr val="f65b20"/>
              </a:solidFill>
              <a:ea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944600" y="7988300"/>
            <a:ext cx="9067800" cy="711200"/>
          </a:xfrm>
          <a:prstGeom prst="rect">
            <a:avLst/>
          </a:prstGeom>
        </p:spPr>
        <p:txBody>
          <a:bodyPr lIns="0" tIns="0" rIns="0" bIns="50799" anchor="b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3999" b="0" i="0" u="none" strike="noStrike">
                <a:solidFill>
                  <a:srgbClr val="f65b20"/>
                </a:solidFill>
                <a:ea typeface="Arial"/>
              </a:rPr>
              <a:t>핵심 재미 요소</a:t>
            </a:r>
            <a:endParaRPr lang="ko-KR" altLang="en-US" sz="3999" b="0" i="0" u="none" strike="noStrike">
              <a:solidFill>
                <a:srgbClr val="f65b20"/>
              </a:solidFill>
              <a:ea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944600" y="8890000"/>
            <a:ext cx="9372600" cy="25908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53550"/>
              </a:lnSpc>
              <a:defRPr/>
            </a:pP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행성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파괴의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시각적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쾌감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제공</a:t>
            </a:r>
            <a:endParaRPr lang="ko-KR" sz="2933" b="0" i="0" u="none" strike="noStrike">
              <a:solidFill>
                <a:srgbClr val="c2c2c2"/>
              </a:solidFill>
              <a:ea typeface="Arial"/>
            </a:endParaRPr>
          </a:p>
          <a:p>
            <a:pPr lvl="0" algn="l">
              <a:lnSpc>
                <a:spcPct val="153550"/>
              </a:lnSpc>
              <a:defRPr/>
            </a:pP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자원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수집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→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업그레이드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→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더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강한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행성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도전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루프</a:t>
            </a:r>
            <a:endParaRPr lang="ko-KR" sz="2933" b="0" i="0" u="none" strike="noStrike">
              <a:solidFill>
                <a:srgbClr val="c2c2c2"/>
              </a:solidFill>
              <a:ea typeface="Arial"/>
            </a:endParaRPr>
          </a:p>
          <a:p>
            <a:pPr lvl="0" algn="l">
              <a:lnSpc>
                <a:spcPct val="153550"/>
              </a:lnSpc>
              <a:defRPr/>
            </a:pP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스테이지마다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새로운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자원의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등장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, 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레벨업을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하면서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다양한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빌드</a:t>
            </a:r>
            <a:r>
              <a:rPr lang="en-US" sz="2933" b="0" i="0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0" i="0" u="none" strike="noStrike">
                <a:solidFill>
                  <a:srgbClr val="c2c2c2"/>
                </a:solidFill>
                <a:ea typeface="Arial"/>
              </a:rPr>
              <a:t>변화</a:t>
            </a:r>
            <a:endParaRPr lang="ko-KR" sz="2933" b="0" i="0" u="none" strike="noStrike">
              <a:solidFill>
                <a:srgbClr val="c2c2c2"/>
              </a:solidFill>
              <a:ea typeface="Arial"/>
            </a:endParaR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76600" y="3644900"/>
            <a:ext cx="7010400" cy="7353300"/>
          </a:xfrm>
          <a:prstGeom prst="rect">
            <a:avLst/>
          </a:prstGeom>
        </p:spPr>
      </p:pic>
      <p:pic>
        <p:nvPicPr>
          <p:cNvPr id="11" name="설명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23721060" y="13053060"/>
            <a:ext cx="5715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26141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7200" y="1498600"/>
            <a:ext cx="20916900" cy="11811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ctr" lvl="0">
              <a:lnSpc>
                <a:spcPct val="99600"/>
              </a:lnSpc>
            </a:pP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게임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진행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흐름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1600" y="4191000"/>
            <a:ext cx="7442200" cy="660400"/>
          </a:xfrm>
          <a:prstGeom prst="rect">
            <a:avLst/>
          </a:prstGeom>
        </p:spPr>
        <p:txBody>
          <a:bodyPr anchor="b" rtlCol="false" lIns="0" tIns="0" rIns="0" bIns="47412"/>
          <a:lstStyle/>
          <a:p>
            <a:pPr algn="ctr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기본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플레이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루프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4300" y="5041900"/>
            <a:ext cx="7886700" cy="19812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우주선을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조작하여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행성에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돌진</a:t>
            </a:r>
          </a:p>
          <a:p>
            <a:pPr algn="ctr" lvl="0">
              <a:lnSpc>
                <a:spcPct val="99600"/>
              </a:lnSpc>
            </a:pP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행성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표면부터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내부까지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파괴하며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진행</a:t>
            </a:r>
          </a:p>
          <a:p>
            <a:pPr algn="ctr" lvl="0">
              <a:lnSpc>
                <a:spcPct val="99600"/>
              </a:lnSpc>
            </a:pP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광물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자원을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수집하여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우주선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,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드릴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,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무기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강화</a:t>
            </a:r>
          </a:p>
          <a:p>
            <a:pPr algn="ctr" lvl="0">
              <a:lnSpc>
                <a:spcPct val="99600"/>
              </a:lnSpc>
            </a:pP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강화된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능력으로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더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단단한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행성에</a:t>
            </a:r>
            <a:r>
              <a:rPr lang="en-US" sz="3125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3125" b="false" i="false" u="none" strike="noStrike">
                <a:solidFill>
                  <a:srgbClr val="C2C2C2"/>
                </a:solidFill>
                <a:ea typeface="Arial"/>
              </a:rPr>
              <a:t>도전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28000" y="7912100"/>
            <a:ext cx="7162800" cy="660400"/>
          </a:xfrm>
          <a:prstGeom prst="rect">
            <a:avLst/>
          </a:prstGeom>
        </p:spPr>
        <p:txBody>
          <a:bodyPr anchor="b" rtlCol="false" lIns="0" tIns="0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 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행성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,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스테이지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구조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0700" y="8763000"/>
            <a:ext cx="7124700" cy="41021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행성은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지각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,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맨틀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,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외핵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,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내핵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구조로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구성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각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층마다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다른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광물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자원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존재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내핵까지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파괴해야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행성이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파괴됨</a:t>
            </a:r>
          </a:p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000000"/>
                </a:solidFill>
                <a:latin typeface="Arial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-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각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스테이지는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3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개의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행성으로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구성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
 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예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: 1-1, 1-2, 1-3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형태</a:t>
            </a:r>
          </a:p>
          <a:p>
            <a:pPr algn="ctr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스테이지마다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고유한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자원과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특성</a:t>
            </a:r>
            <a:r>
              <a:rPr lang="en-US" sz="2933" b="false" i="false" u="none" strike="noStrike">
                <a:solidFill>
                  <a:srgbClr val="C2C2C2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C2C2C2"/>
                </a:solidFill>
                <a:ea typeface="Arial"/>
              </a:rPr>
              <a:t>보유</a:t>
            </a:r>
          </a:p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C2C2C2"/>
                </a:solidFill>
                <a:latin typeface="Arial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" sz="2933" b="false" i="false" u="none" strike="noStrike">
                <a:solidFill>
                  <a:srgbClr val="C2C2C2"/>
                </a:solidFill>
                <a:latin typeface="Arial"/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637000" y="5283200"/>
            <a:ext cx="6400800" cy="4889500"/>
          </a:xfrm>
          <a:prstGeom prst="rect">
            <a:avLst/>
          </a:prstGeom>
        </p:spPr>
      </p:pic>
      <p:pic>
        <p:nvPicPr>
          <p:cNvPr id="11" name="제목 없음.mp4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1652587" y="2095500"/>
            <a:ext cx="5357812" cy="9525000"/>
          </a:xfrm>
          <a:prstGeom prst="rect">
            <a:avLst/>
          </a:prstGeom>
        </p:spPr>
      </p:pic>
      <p:pic>
        <p:nvPicPr>
          <p:cNvPr id="13" name="설명">
            <a:hlinkClick r:id="" action="ppaction://media"/>
          </p:cNvPr>
          <p:cNvPicPr>
            <a:picLocks noRot="1"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 rotWithShape="1">
          <a:blip r:embed="rId9"/>
          <a:stretch>
            <a:fillRect/>
          </a:stretch>
        </p:blipFill>
        <p:spPr>
          <a:xfrm>
            <a:off x="23721060" y="13053060"/>
            <a:ext cx="5715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18547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063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triggerEvt type="onClick" time="1812" objId="11"/>
        <p14:playEvt time="1859" objId="11"/>
        <p14:stopEvt time="18547" objId="11"/>
      </p14:showEvtLst>
    </p:ext>
  </p:extLs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7200" y="1498600"/>
            <a:ext cx="20916900" cy="11811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ctr" lvl="0">
              <a:lnSpc>
                <a:spcPct val="99600"/>
              </a:lnSpc>
            </a:pP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게임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진행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흐름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(2)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50700" y="3530600"/>
            <a:ext cx="11823700" cy="660400"/>
          </a:xfrm>
          <a:prstGeom prst="rect">
            <a:avLst/>
          </a:prstGeom>
        </p:spPr>
        <p:txBody>
          <a:bodyPr anchor="b" rtlCol="false" lIns="0" tIns="0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RPG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요소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50700" y="4711700"/>
            <a:ext cx="11798300" cy="1638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광물마다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체력과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존재</a:t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플레이어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(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우주선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)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도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/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방어력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스텟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보유</a:t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행성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내부로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갈수록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더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단단한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광물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존재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87200" y="7683500"/>
            <a:ext cx="11823700" cy="660400"/>
          </a:xfrm>
          <a:prstGeom prst="rect">
            <a:avLst/>
          </a:prstGeom>
        </p:spPr>
        <p:txBody>
          <a:bodyPr anchor="b" rtlCol="false" lIns="0" tIns="0" rIns="0" bIns="47412"/>
          <a:lstStyle/>
          <a:p>
            <a:pPr algn="l" lvl="0">
              <a:lnSpc>
                <a:spcPct val="99600"/>
              </a:lnSpc>
            </a:pP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레벨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업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,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업그레이드</a:t>
            </a:r>
            <a:r>
              <a:rPr lang="en-US" sz="3733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3733" b="false" i="false" u="none" strike="noStrike">
                <a:solidFill>
                  <a:srgbClr val="F65B20"/>
                </a:solidFill>
                <a:ea typeface="Arial"/>
              </a:rPr>
              <a:t>시스템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87200" y="8864600"/>
            <a:ext cx="11798300" cy="3873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각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광물을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파괴하면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광물과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그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스테이지에만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적용되는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경험치를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획득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가능</a:t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레벨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업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,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랜덤으로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3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요소가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나타나고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,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하나만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선택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가능</a:t>
            </a:r>
          </a:p>
          <a:p>
            <a:pPr algn="l" lvl="0">
              <a:lnSpc>
                <a:spcPct val="124499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latin typeface="Arial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" sz="2933" b="false" i="false" u="none" strike="noStrike">
                <a:solidFill>
                  <a:srgbClr val="FFFFFF"/>
                </a:solidFill>
                <a:latin typeface="Arial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드릴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공격력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강화로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더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단단한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광물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채굴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가능</a:t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 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우주선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/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방어력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강화로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생존성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향상</a:t>
            </a:r>
          </a:p>
          <a:p>
            <a:pPr algn="l" lvl="0">
              <a:lnSpc>
                <a:spcPct val="1244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-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무기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(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원거리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공격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)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추가로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없이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공격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594100" y="3530600"/>
            <a:ext cx="1600200" cy="1600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070600" y="3530600"/>
            <a:ext cx="1574800" cy="157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34400" y="3530600"/>
            <a:ext cx="1600200" cy="160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0300" y="3530600"/>
            <a:ext cx="1574800" cy="157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0" y="2844800"/>
            <a:ext cx="7251700" cy="1485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65200" y="5448300"/>
            <a:ext cx="2413000" cy="1079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: 100</a:t>
            </a:r>
          </a:p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16300" y="5422900"/>
            <a:ext cx="2413000" cy="1079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: 150</a:t>
            </a:r>
          </a:p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20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43600" y="5435600"/>
            <a:ext cx="2413000" cy="1079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: 300</a:t>
            </a:r>
          </a:p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07400" y="5435600"/>
            <a:ext cx="2413000" cy="1079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체력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: 500</a:t>
            </a:r>
          </a:p>
          <a:p>
            <a:pPr algn="l" lvl="0">
              <a:lnSpc>
                <a:spcPct val="124499"/>
              </a:lnSpc>
            </a:pP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가시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</a:t>
            </a:r>
            <a:r>
              <a:rPr lang="ko-KR" sz="2933" b="false" i="false" u="none" strike="noStrike">
                <a:solidFill>
                  <a:srgbClr val="FFFFFF"/>
                </a:solidFill>
                <a:ea typeface="Arial"/>
              </a:rPr>
              <a:t>데미지</a:t>
            </a:r>
            <a:r>
              <a:rPr lang="en-US" sz="2933" b="false" i="false" u="none" strike="noStrike">
                <a:solidFill>
                  <a:srgbClr val="FFFFFF"/>
                </a:solidFill>
                <a:latin typeface="Arial"/>
              </a:rPr>
              <a:t> 40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0600" y="7226300"/>
            <a:ext cx="4610100" cy="548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67500" y="7112000"/>
            <a:ext cx="3810000" cy="5486400"/>
          </a:xfrm>
          <a:prstGeom prst="rect">
            <a:avLst/>
          </a:prstGeom>
        </p:spPr>
      </p:pic>
      <p:pic>
        <p:nvPicPr>
          <p:cNvPr id="21" name="설명">
            <a:hlinkClick r:id="" action="ppaction://media"/>
          </p:cNvPr>
          <p:cNvPicPr>
            <a:picLocks noRot="1"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 rotWithShape="1">
          <a:blip r:embed="rId12"/>
          <a:stretch>
            <a:fillRect/>
          </a:stretch>
        </p:blipFill>
        <p:spPr>
          <a:xfrm>
            <a:off x="23721060" y="13053060"/>
            <a:ext cx="5715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21594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7200" y="1498600"/>
            <a:ext cx="20916900" cy="11811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ctr" lvl="0">
              <a:lnSpc>
                <a:spcPct val="99600"/>
              </a:lnSpc>
            </a:pP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개발</a:t>
            </a:r>
            <a:r>
              <a:rPr lang="en-US" sz="6666" b="false" i="false" u="none" strike="noStrike">
                <a:solidFill>
                  <a:srgbClr val="F65B20"/>
                </a:solidFill>
                <a:latin typeface="Arial"/>
              </a:rPr>
              <a:t> </a:t>
            </a:r>
            <a:r>
              <a:rPr lang="ko-KR" sz="6666" b="false" i="false" u="none" strike="noStrike">
                <a:solidFill>
                  <a:srgbClr val="F65B20"/>
                </a:solidFill>
                <a:ea typeface="Arial"/>
              </a:rPr>
              <a:t>일정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51600" y="3594100"/>
            <a:ext cx="11468100" cy="7683500"/>
          </a:xfrm>
          <a:prstGeom prst="rect">
            <a:avLst/>
          </a:prstGeom>
        </p:spPr>
      </p:pic>
      <p:pic>
        <p:nvPicPr>
          <p:cNvPr id="7" name="설명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23721060" y="13053060"/>
            <a:ext cx="5715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advTm="13671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210</ep:Words>
  <ep:PresentationFormat>On-screen Show (4:3)</ep:PresentationFormat>
  <ep:Paragraphs>50</ep:Paragraphs>
  <ep:Slides>5</ep:Slides>
  <ep:Notes>0</ep:Notes>
  <ep:TotalTime>0</ep:TotalTime>
  <ep:HiddenSlides>0</ep:HiddenSlides>
  <ep:MMClips>6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Theme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user</cp:lastModifiedBy>
  <dcterms:modified xsi:type="dcterms:W3CDTF">2025-10-01T13:31:23.967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